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8" r:id="rId3"/>
    <p:sldId id="270" r:id="rId4"/>
    <p:sldId id="272" r:id="rId5"/>
    <p:sldId id="273" r:id="rId6"/>
    <p:sldId id="274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3F175-EB9A-D83F-AFA0-4B9DB3CB3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B8D0DE-349A-6494-D352-840E07CB9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4F8A49-AD0D-D389-E28F-1936270D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41462-7D63-E99E-5A12-076340E7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A0E3DB-BC4D-4E23-D369-8DC748F0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774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E5FD3-0700-2744-40C5-C59EB22E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F6B188-2AC4-199B-D0E2-17D074557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14185C-54FC-467F-5788-D8C6118FC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236068-D94C-268E-4CD6-46ECD5DF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7A4640-CCD4-0625-86E9-EE235AFA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4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40B6C-CD07-016E-1A31-4518453B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0EE97B-0994-8EE2-8BF6-E7C26F0BD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CA399-C6D2-0275-ECEA-D08CCAE3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B542E4-F017-8A0E-C185-755D6B85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58F407-54E0-3644-B94F-2C4030B7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407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F33DA-3011-5386-6E58-7C6ED265E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3ACFC-F455-4329-FCB0-8032151C8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B07036-E7A4-C4C2-4361-02949F691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3DF0AD-1D8D-E865-E0DD-010924B7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E3D98D-AEDA-6B3F-22F9-FB753156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B918F-A836-4579-9A3B-AA9E7F12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84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19640-44EF-F21C-2394-4F072247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E4895B-3391-7544-F2FF-E612785CB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CDD9C5-D744-E24F-C531-F1201BEDD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A13EBA4-5D17-0952-3A4B-E9489FF84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FFB688-C5F6-28ED-1742-7D75FA6A2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6A6D54-CC0C-8B83-F5F7-55271365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B47E24-EBD8-0DA1-F75A-E3DFC617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0C9233-E595-8FE2-5042-54C197BC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034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450C8-5B35-3574-D5D0-369E67BA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61CAAC-355F-46B9-4C42-50AE673A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364C87-3D99-1241-3551-59262AB9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4C8E2D-7234-420A-DA5A-B6AE3F52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18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9C6C6AB-502A-850D-94C4-3972BF1C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D8DDBA-92AE-5C44-E6CE-4AB38438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CE190F-797F-3999-B65D-948FE1CE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44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E16D0-8C2B-460C-E1FD-E575602B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E395F-9867-6BD3-CA51-51BA8E512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B7340B-C179-E54E-08B6-931055A9D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3A4ADE-74C5-D233-51BC-D22DF6A6F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795FF2-EDEF-C3E0-0CA0-D7725741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EF57D5-7655-A517-4F54-1AD415A9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9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12229-AC36-5231-B371-D3393434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3FAFE0-7E84-4F32-F697-EEFB3DEE3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8A7E17-9A0C-AFA8-A70C-FD768ECCF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E8AC6C-A9D9-DA34-D8D8-AA1CEB20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A402A9-3C0F-24D7-C1F0-A099D223D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0299A2-6E0C-E09A-64E6-FC4DD569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374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BDED8-92EA-9757-562A-29B49337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D77A4C-C559-B4C7-DB74-437EB7D6C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C44BC3-9C2C-D861-855E-60FA58C8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A74ED8-EFE8-820B-9CBB-9E97BDC3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A3966-0AE6-B9C6-02EF-7576D0F5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59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BDCD46-48B3-0DBA-E431-5B05576E8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4B64D-E851-8435-0FD5-B51742305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487565-205A-7A7D-B91D-A3339DB6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995E0D-A024-CE1C-FD4E-749F48CA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6B0A9C-D1AF-BDD7-F714-BBC55471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79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10AFD0A-93CC-8EA5-3592-C887F11F9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A517F1-EBFF-63A8-F13C-3C6F3B09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C3EAB-35C5-9E47-36A7-222C8E802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4ECBA-AE4D-4885-A223-03D2D06C42B4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505D6-39A7-8ED5-4062-96275737F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7B1457-EF36-E52D-2947-1ACA2182C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7CC18-649E-4468-9D88-FEF4EEC07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91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B9E7C-C0E5-EDEF-BBC9-414D2D31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BB5BD0BE-65C3-A91E-B028-4D56904AA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dirty="0"/>
              <a:t>Projeto – Compras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Políticas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Criação </a:t>
            </a:r>
            <a:r>
              <a:rPr lang="pt-BR" dirty="0" err="1"/>
              <a:t>cadastrista</a:t>
            </a:r>
            <a:br>
              <a:rPr lang="pt-BR" dirty="0"/>
            </a:br>
            <a:endParaRPr lang="pt-BR" dirty="0"/>
          </a:p>
          <a:p>
            <a:pPr algn="l"/>
            <a:r>
              <a:rPr lang="pt-BR" dirty="0"/>
              <a:t>Somente compradores realizam compras.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Exige 2 ou 3 cotações. Desburocratização. </a:t>
            </a:r>
            <a:br>
              <a:rPr lang="pt-BR" dirty="0"/>
            </a:br>
            <a:br>
              <a:rPr lang="pt-BR" dirty="0"/>
            </a:br>
            <a:r>
              <a:rPr lang="pt-BR" dirty="0"/>
              <a:t>Gestor aprova compra após orçamentos.</a:t>
            </a:r>
            <a:br>
              <a:rPr lang="pt-BR" dirty="0"/>
            </a:br>
            <a:endParaRPr lang="pt-BR" dirty="0"/>
          </a:p>
          <a:p>
            <a:pPr algn="l"/>
            <a:r>
              <a:rPr lang="pt-BR" dirty="0"/>
              <a:t>Há </a:t>
            </a:r>
            <a:r>
              <a:rPr lang="pt-BR" dirty="0" err="1"/>
              <a:t>leadtime</a:t>
            </a:r>
            <a:r>
              <a:rPr lang="pt-BR" dirty="0"/>
              <a:t> para calcular/quantificar tempo de atendimento. Tempo no cadastro, tempo no orçamento, tempo na  aprovação, compra finalizada.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Comprador “pega” solicitação para atendimento.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Comprador rejeita solicitação por falta de informação da solicitação. A solicitação retorna para o </a:t>
            </a:r>
            <a:r>
              <a:rPr lang="pt-BR" dirty="0" err="1"/>
              <a:t>cadastrista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Há o levantamento de compras realizadas com tempo de atendimento por comprador.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Estoque produtos críticos</a:t>
            </a:r>
          </a:p>
        </p:txBody>
      </p:sp>
    </p:spTree>
    <p:extLst>
      <p:ext uri="{BB962C8B-B14F-4D97-AF65-F5344CB8AC3E}">
        <p14:creationId xmlns:p14="http://schemas.microsoft.com/office/powerpoint/2010/main" val="200352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14F6-605C-E679-14A5-E96D5D0E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3C6BEE4-E307-20CD-2342-D07364E9F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dirty="0"/>
              <a:t>Projeto – Compras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Atividades do </a:t>
            </a:r>
            <a:r>
              <a:rPr lang="pt-BR" b="1" dirty="0" err="1"/>
              <a:t>cadastrista</a:t>
            </a:r>
            <a:r>
              <a:rPr lang="pt-BR" b="1" dirty="0"/>
              <a:t>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Realiza cadastro de produto + serviço com especificação do item, composição, dimensão, detalhamento e imagem de referência. </a:t>
            </a:r>
            <a:br>
              <a:rPr lang="pt-BR" dirty="0"/>
            </a:br>
            <a:br>
              <a:rPr lang="pt-BR" dirty="0"/>
            </a:br>
            <a:r>
              <a:rPr lang="pt-BR" dirty="0"/>
              <a:t>Gera a padronização do item. Para o item serviço segue Serviços com as respectivas especificações.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Documento EMS (especificação de matérias e serviços)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Registra item para o comprador sequenciar atendimento.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Responsável pela prospecção e registro de fornecedor/prestador serviços.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Definir cotações</a:t>
            </a:r>
            <a:r>
              <a:rPr lang="pt-BR" b="1" dirty="0"/>
              <a:t>: </a:t>
            </a:r>
            <a:r>
              <a:rPr lang="pt-BR" dirty="0"/>
              <a:t>De R$ X a R$ Y → 2 cotações obrigatórias e acima de R$ Y → 3 cotações obrigatórias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Classifica a Priorização Compras: Crítico operacional ( peça de caminhão parada); Estrutural (manutenção predial </a:t>
            </a:r>
            <a:r>
              <a:rPr lang="pt-BR" dirty="0" err="1"/>
              <a:t>emergêncial</a:t>
            </a:r>
            <a:r>
              <a:rPr lang="pt-BR" dirty="0"/>
              <a:t>)</a:t>
            </a:r>
          </a:p>
          <a:p>
            <a:pPr algn="l"/>
            <a:r>
              <a:rPr lang="pt-BR" dirty="0"/>
              <a:t>E Estratégico (alto valor, </a:t>
            </a:r>
            <a:r>
              <a:rPr lang="pt-BR" dirty="0" err="1"/>
              <a:t>capex</a:t>
            </a:r>
            <a:r>
              <a:rPr lang="pt-BR" dirty="0"/>
              <a:t>)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1791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1060-0E20-1DEE-574D-3708DE84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E3215B1-8CE0-6A27-63B6-CFF3E1988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Projeto – Compras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Estruturação</a:t>
            </a:r>
          </a:p>
          <a:p>
            <a:pPr algn="l"/>
            <a:br>
              <a:rPr lang="pt-BR" dirty="0"/>
            </a:br>
            <a:r>
              <a:rPr lang="pt-BR" dirty="0"/>
              <a:t>2 – Compradores (Jonas/Bárbara)</a:t>
            </a:r>
            <a:br>
              <a:rPr lang="pt-BR" dirty="0"/>
            </a:br>
            <a:r>
              <a:rPr lang="pt-BR" dirty="0"/>
              <a:t>Separação por especialidade de compra (peças e insumos / manutenção e obra / geral)</a:t>
            </a:r>
            <a:br>
              <a:rPr lang="pt-BR" dirty="0"/>
            </a:br>
            <a:br>
              <a:rPr lang="pt-BR" dirty="0"/>
            </a:br>
            <a:r>
              <a:rPr lang="pt-BR" dirty="0"/>
              <a:t>1 – </a:t>
            </a:r>
            <a:r>
              <a:rPr lang="pt-BR" dirty="0" err="1"/>
              <a:t>Cadastrista</a:t>
            </a:r>
            <a:r>
              <a:rPr lang="pt-BR" dirty="0"/>
              <a:t> (Franciele)</a:t>
            </a:r>
          </a:p>
          <a:p>
            <a:pPr algn="l"/>
            <a:r>
              <a:rPr lang="pt-BR" dirty="0"/>
              <a:t>Criação do papel de </a:t>
            </a:r>
            <a:r>
              <a:rPr lang="pt-BR" dirty="0" err="1"/>
              <a:t>cadastrista</a:t>
            </a:r>
            <a:br>
              <a:rPr lang="pt-BR" dirty="0"/>
            </a:br>
            <a:br>
              <a:rPr lang="pt-BR" dirty="0"/>
            </a:br>
            <a:r>
              <a:rPr lang="pt-BR" dirty="0"/>
              <a:t>1 – Auxiliar Junior (Lorraine)</a:t>
            </a:r>
            <a:br>
              <a:rPr lang="pt-BR" dirty="0"/>
            </a:br>
            <a:r>
              <a:rPr lang="pt-BR" dirty="0"/>
              <a:t>Criação de pedido e direcionamento de NF.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Comprador e </a:t>
            </a:r>
            <a:r>
              <a:rPr lang="pt-BR" b="1" dirty="0" err="1"/>
              <a:t>cadastrista</a:t>
            </a:r>
            <a:r>
              <a:rPr lang="pt-BR" b="1" dirty="0"/>
              <a:t> se misturam para multitarefas</a:t>
            </a:r>
          </a:p>
        </p:txBody>
      </p:sp>
    </p:spTree>
    <p:extLst>
      <p:ext uri="{BB962C8B-B14F-4D97-AF65-F5344CB8AC3E}">
        <p14:creationId xmlns:p14="http://schemas.microsoft.com/office/powerpoint/2010/main" val="67492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949A2-A70E-C61F-05E2-D0177991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FDEBB20-2ABA-F0D8-EF36-B83E5784E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Projeto – Compras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EMS (Especificação de </a:t>
            </a:r>
            <a:r>
              <a:rPr lang="pt-BR" b="1" dirty="0" err="1"/>
              <a:t>Materias</a:t>
            </a:r>
            <a:r>
              <a:rPr lang="pt-BR" b="1" dirty="0"/>
              <a:t> e Serviços)</a:t>
            </a:r>
          </a:p>
          <a:p>
            <a:pPr algn="l"/>
            <a:br>
              <a:rPr lang="pt-BR" dirty="0"/>
            </a:br>
            <a:r>
              <a:rPr lang="pt-BR" dirty="0"/>
              <a:t>Campos obrigatórios: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Descrição</a:t>
            </a:r>
          </a:p>
          <a:p>
            <a:pPr algn="l"/>
            <a:r>
              <a:rPr lang="pt-BR" dirty="0"/>
              <a:t>Aplicação</a:t>
            </a:r>
          </a:p>
          <a:p>
            <a:pPr algn="l"/>
            <a:r>
              <a:rPr lang="pt-BR" dirty="0"/>
              <a:t>Especificação técnica</a:t>
            </a:r>
          </a:p>
          <a:p>
            <a:pPr algn="l"/>
            <a:r>
              <a:rPr lang="pt-BR" dirty="0"/>
              <a:t>Unidade</a:t>
            </a:r>
          </a:p>
          <a:p>
            <a:pPr algn="l"/>
            <a:r>
              <a:rPr lang="pt-BR" dirty="0"/>
              <a:t>Imagem</a:t>
            </a:r>
          </a:p>
          <a:p>
            <a:pPr algn="l"/>
            <a:r>
              <a:rPr lang="pt-BR" dirty="0"/>
              <a:t>Fornecedores usuais</a:t>
            </a:r>
          </a:p>
        </p:txBody>
      </p:sp>
    </p:spTree>
    <p:extLst>
      <p:ext uri="{BB962C8B-B14F-4D97-AF65-F5344CB8AC3E}">
        <p14:creationId xmlns:p14="http://schemas.microsoft.com/office/powerpoint/2010/main" val="374246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C131-64D0-B137-D314-6D035EF9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DD8A3FC-B0AA-FC48-BA09-543578D2C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Projeto – Compras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Estoque Crítico</a:t>
            </a:r>
          </a:p>
          <a:p>
            <a:pPr algn="l"/>
            <a:br>
              <a:rPr lang="pt-BR" dirty="0"/>
            </a:br>
            <a:r>
              <a:rPr lang="pt-BR" dirty="0"/>
              <a:t>Alta frequência</a:t>
            </a:r>
          </a:p>
          <a:p>
            <a:pPr algn="l"/>
            <a:r>
              <a:rPr lang="pt-BR" dirty="0"/>
              <a:t>Impacto operacional alto</a:t>
            </a:r>
          </a:p>
          <a:p>
            <a:pPr algn="l"/>
            <a:r>
              <a:rPr lang="pt-BR" dirty="0"/>
              <a:t>Melhor negociação de Preço e Prazo</a:t>
            </a:r>
            <a:br>
              <a:rPr lang="pt-BR" dirty="0"/>
            </a:br>
            <a:r>
              <a:rPr lang="pt-BR" dirty="0"/>
              <a:t>Otimiza de compra em compra única</a:t>
            </a:r>
            <a:br>
              <a:rPr lang="pt-BR" dirty="0"/>
            </a:br>
            <a:endParaRPr lang="pt-BR" dirty="0"/>
          </a:p>
          <a:p>
            <a:pPr algn="l"/>
            <a:r>
              <a:rPr lang="pt-BR" dirty="0"/>
              <a:t>Possibilidade de Convênio com fornecedor</a:t>
            </a:r>
          </a:p>
        </p:txBody>
      </p:sp>
    </p:spTree>
    <p:extLst>
      <p:ext uri="{BB962C8B-B14F-4D97-AF65-F5344CB8AC3E}">
        <p14:creationId xmlns:p14="http://schemas.microsoft.com/office/powerpoint/2010/main" val="255000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1827-7007-5C8E-2FA9-824EDD5B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F7FAB0-E2A2-DAC4-AF47-508C517D7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Projeto – Compras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Central de Compras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Histórico de compras realizadas</a:t>
            </a:r>
            <a:br>
              <a:rPr lang="pt-BR" dirty="0"/>
            </a:br>
            <a:r>
              <a:rPr lang="pt-BR" dirty="0"/>
              <a:t>Compras por comprador</a:t>
            </a:r>
            <a:br>
              <a:rPr lang="pt-BR" dirty="0"/>
            </a:br>
            <a:r>
              <a:rPr lang="pt-BR" dirty="0"/>
              <a:t>Saving (diferença entre cotações e negociações)</a:t>
            </a:r>
            <a:br>
              <a:rPr lang="pt-BR" dirty="0"/>
            </a:br>
            <a:r>
              <a:rPr lang="pt-BR" dirty="0"/>
              <a:t>% compras urgentes</a:t>
            </a:r>
            <a:br>
              <a:rPr lang="pt-BR" dirty="0"/>
            </a:br>
            <a:r>
              <a:rPr lang="pt-BR" dirty="0"/>
              <a:t>Ranking de fornecedores</a:t>
            </a:r>
          </a:p>
          <a:p>
            <a:pPr algn="l"/>
            <a:r>
              <a:rPr lang="pt-BR" dirty="0"/>
              <a:t>Curva ABC de itens</a:t>
            </a:r>
            <a:br>
              <a:rPr lang="pt-BR" dirty="0"/>
            </a:br>
            <a:r>
              <a:rPr lang="pt-BR" dirty="0"/>
              <a:t>Lead time total</a:t>
            </a:r>
          </a:p>
          <a:p>
            <a:pPr algn="l"/>
            <a:r>
              <a:rPr lang="pt-BR" dirty="0"/>
              <a:t>Lead time por etapa: Cadastro; Cotação; Aprovação; Compra;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3229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63E7-79FC-DBDB-E843-CB9280D1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A895ED2-15C5-047A-F252-5D9FAE1B6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dirty="0"/>
              <a:t>Projeto – Compras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Fluxograma</a:t>
            </a:r>
            <a:br>
              <a:rPr lang="pt-BR" b="1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Solicitante  faz a requisição.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Agente </a:t>
            </a:r>
            <a:r>
              <a:rPr lang="pt-BR" dirty="0" err="1"/>
              <a:t>Cadastrista</a:t>
            </a:r>
            <a:r>
              <a:rPr lang="pt-BR" dirty="0"/>
              <a:t> consulta base. Produto cadastrado é aprovado para compra. Produto não cadastrado exige cadastramento padronizado (EMS).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Agente realiza a prospecção e registro de fornecedor/prestador serviços.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Fila de compras (comprador assume).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Comprador realiza a Cotação (2 ou 3 fornecedores). Envia mapa comparativo para aprovação do gestor.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Aprovação gestor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Menor realiza o Pedido de compra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Comprador executa a compra</a:t>
            </a:r>
          </a:p>
        </p:txBody>
      </p:sp>
    </p:spTree>
    <p:extLst>
      <p:ext uri="{BB962C8B-B14F-4D97-AF65-F5344CB8AC3E}">
        <p14:creationId xmlns:p14="http://schemas.microsoft.com/office/powerpoint/2010/main" val="370794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95CA-30A3-949E-3B88-6765D921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1FC1402-DBCA-F204-E63F-AE1ECAED2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520" y="151471"/>
            <a:ext cx="12065479" cy="6025041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ESTRUTURAÇÃO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QLP 1: Estratégico </a:t>
            </a:r>
            <a:br>
              <a:rPr lang="pt-BR" b="1" dirty="0"/>
            </a:br>
            <a:r>
              <a:rPr lang="pt-BR" b="1" dirty="0"/>
              <a:t>Foco:</a:t>
            </a:r>
            <a:r>
              <a:rPr lang="pt-BR" dirty="0"/>
              <a:t> Itens de alto valor e previsibilidade.</a:t>
            </a:r>
          </a:p>
          <a:p>
            <a:pPr algn="l"/>
            <a:br>
              <a:rPr lang="pt-BR" dirty="0"/>
            </a:br>
            <a:br>
              <a:rPr lang="pt-BR" dirty="0"/>
            </a:br>
            <a:r>
              <a:rPr lang="pt-BR" b="1" dirty="0"/>
              <a:t>QLP 2: Operacional/MRO (Reposição Automática/</a:t>
            </a:r>
            <a:r>
              <a:rPr lang="pt-BR" b="1" dirty="0" err="1"/>
              <a:t>Routine</a:t>
            </a:r>
            <a:r>
              <a:rPr lang="pt-BR" b="1" dirty="0"/>
              <a:t>)</a:t>
            </a:r>
          </a:p>
          <a:p>
            <a:pPr algn="l"/>
            <a:r>
              <a:rPr lang="pt-BR" b="1" dirty="0"/>
              <a:t>Foco:</a:t>
            </a:r>
            <a:r>
              <a:rPr lang="pt-BR" dirty="0"/>
              <a:t> Itens de baixo valor unitário, mas altíssima frequência.</a:t>
            </a:r>
          </a:p>
          <a:p>
            <a:pPr algn="l"/>
            <a:br>
              <a:rPr lang="pt-BR" dirty="0"/>
            </a:br>
            <a:r>
              <a:rPr lang="pt-BR" b="1" dirty="0"/>
              <a:t>QLP 3: Spot/Emergencial (Agilidade Total)</a:t>
            </a:r>
          </a:p>
          <a:p>
            <a:pPr algn="l"/>
            <a:r>
              <a:rPr lang="pt-BR" b="1" dirty="0"/>
              <a:t>Foco:</a:t>
            </a:r>
            <a:r>
              <a:rPr lang="pt-BR" dirty="0"/>
              <a:t> Itens não previstos e quebras acidentais.</a:t>
            </a:r>
          </a:p>
          <a:p>
            <a:pPr algn="l"/>
            <a:r>
              <a:rPr lang="pt-BR" b="1" dirty="0"/>
              <a:t>Itens:</a:t>
            </a:r>
            <a:r>
              <a:rPr lang="pt-BR" dirty="0"/>
              <a:t> Peças específicas de cabine, sensores raros e emergências estruturais.</a:t>
            </a:r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6774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B8FD5-0E6F-B771-0E78-A019CA72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1F583A2-5608-5A78-F7D0-256812F4D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261" y="696686"/>
            <a:ext cx="4565222" cy="2988594"/>
          </a:xfrm>
        </p:spPr>
        <p:txBody>
          <a:bodyPr>
            <a:normAutofit/>
          </a:bodyPr>
          <a:lstStyle/>
          <a:p>
            <a:pPr algn="l"/>
            <a:r>
              <a:rPr lang="pt-BR" sz="1700" b="1" dirty="0"/>
              <a:t>Comprador – Jonas</a:t>
            </a:r>
          </a:p>
          <a:p>
            <a:pPr algn="l"/>
            <a:r>
              <a:rPr lang="pt-BR" sz="1700" dirty="0"/>
              <a:t>Responsável pelas categorias:</a:t>
            </a:r>
          </a:p>
          <a:p>
            <a:pPr algn="l"/>
            <a:r>
              <a:rPr lang="pt-BR" sz="1700" dirty="0"/>
              <a:t>Combustíveis e Óleos</a:t>
            </a:r>
          </a:p>
          <a:p>
            <a:pPr algn="l"/>
            <a:r>
              <a:rPr lang="pt-BR" sz="1700" dirty="0"/>
              <a:t>Insumos Agrícolas</a:t>
            </a:r>
          </a:p>
          <a:p>
            <a:pPr algn="l"/>
            <a:r>
              <a:rPr lang="pt-BR" sz="1700" dirty="0"/>
              <a:t>Peças para Veículos</a:t>
            </a:r>
          </a:p>
          <a:p>
            <a:pPr algn="l"/>
            <a:r>
              <a:rPr lang="pt-BR" sz="1700" dirty="0"/>
              <a:t>Pneus e Câmaras</a:t>
            </a:r>
            <a:br>
              <a:rPr lang="pt-BR" dirty="0"/>
            </a:br>
            <a:endParaRPr lang="pt-BR" dirty="0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94520B07-8ED9-5E34-9FE2-3C82DD7CE3C9}"/>
              </a:ext>
            </a:extLst>
          </p:cNvPr>
          <p:cNvSpPr txBox="1">
            <a:spLocks/>
          </p:cNvSpPr>
          <p:nvPr/>
        </p:nvSpPr>
        <p:spPr>
          <a:xfrm>
            <a:off x="355122" y="718458"/>
            <a:ext cx="4902678" cy="33854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/>
              <a:t>Compradora – Fran</a:t>
            </a:r>
          </a:p>
          <a:p>
            <a:pPr algn="l"/>
            <a:r>
              <a:rPr lang="pt-BR" sz="1800" dirty="0"/>
              <a:t>Responsável pelas categorias:</a:t>
            </a:r>
          </a:p>
          <a:p>
            <a:pPr algn="l"/>
            <a:r>
              <a:rPr lang="pt-BR" sz="1800" dirty="0"/>
              <a:t>Ferramentas e Equipamentos</a:t>
            </a:r>
          </a:p>
          <a:p>
            <a:pPr algn="l"/>
            <a:r>
              <a:rPr lang="pt-BR" sz="1800" dirty="0"/>
              <a:t>Materiais de Construção</a:t>
            </a:r>
          </a:p>
          <a:p>
            <a:pPr algn="l"/>
            <a:r>
              <a:rPr lang="pt-BR" sz="1800" dirty="0"/>
              <a:t>Materiais Elétricos</a:t>
            </a:r>
          </a:p>
          <a:p>
            <a:pPr algn="l"/>
            <a:r>
              <a:rPr lang="pt-BR" sz="1800" dirty="0"/>
              <a:t>Materiais de Escritório</a:t>
            </a:r>
          </a:p>
          <a:p>
            <a:pPr algn="l"/>
            <a:r>
              <a:rPr lang="pt-BR" sz="1800" dirty="0"/>
              <a:t>Materiais de Limpeza</a:t>
            </a:r>
          </a:p>
          <a:p>
            <a:pPr algn="l"/>
            <a:r>
              <a:rPr lang="pt-BR" sz="1800" dirty="0"/>
              <a:t>Materiais de Pintura</a:t>
            </a:r>
          </a:p>
          <a:p>
            <a:pPr algn="l"/>
            <a:r>
              <a:rPr lang="pt-BR" sz="1800" dirty="0"/>
              <a:t>Móveis e Utensílios</a:t>
            </a:r>
          </a:p>
          <a:p>
            <a:pPr algn="l"/>
            <a:r>
              <a:rPr lang="pt-BR" sz="1800" dirty="0"/>
              <a:t>Equipamentos de Proteção Individual (EPI)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274514BE-FEB1-8B47-43F6-C21211A63DA1}"/>
              </a:ext>
            </a:extLst>
          </p:cNvPr>
          <p:cNvSpPr txBox="1">
            <a:spLocks/>
          </p:cNvSpPr>
          <p:nvPr/>
        </p:nvSpPr>
        <p:spPr>
          <a:xfrm>
            <a:off x="355122" y="255350"/>
            <a:ext cx="5860621" cy="44133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6800" b="1" dirty="0"/>
              <a:t>Categorização de Compra</a:t>
            </a:r>
          </a:p>
          <a:p>
            <a:pPr algn="l"/>
            <a:br>
              <a:rPr lang="pt-BR" dirty="0"/>
            </a:br>
            <a:endParaRPr lang="pt-BR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74735759-E0B3-121F-A4F3-5133BF0F0353}"/>
              </a:ext>
            </a:extLst>
          </p:cNvPr>
          <p:cNvSpPr txBox="1">
            <a:spLocks/>
          </p:cNvSpPr>
          <p:nvPr/>
        </p:nvSpPr>
        <p:spPr>
          <a:xfrm>
            <a:off x="298640" y="4392850"/>
            <a:ext cx="10846278" cy="232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/>
              <a:t>Rodízio de Categorias</a:t>
            </a:r>
          </a:p>
          <a:p>
            <a:pPr algn="l"/>
            <a:r>
              <a:rPr lang="pt-BR" sz="1800" u="sng" dirty="0"/>
              <a:t>Objetivo:</a:t>
            </a:r>
            <a:br>
              <a:rPr lang="pt-BR" sz="1800" u="sng" dirty="0"/>
            </a:br>
            <a:br>
              <a:rPr lang="pt-BR" sz="1800" dirty="0"/>
            </a:br>
            <a:r>
              <a:rPr lang="pt-BR" sz="1800" dirty="0"/>
              <a:t>Ampliar o conhecimento técnico dos compradores;</a:t>
            </a:r>
            <a:br>
              <a:rPr lang="pt-BR" sz="1800" dirty="0"/>
            </a:br>
            <a:r>
              <a:rPr lang="pt-BR" sz="1800" dirty="0"/>
              <a:t>Reduzir riscos operacionais;</a:t>
            </a:r>
            <a:br>
              <a:rPr lang="pt-BR" sz="1800" dirty="0"/>
            </a:br>
            <a:r>
              <a:rPr lang="pt-BR" sz="1800" dirty="0"/>
              <a:t>Promover maior equilíbrio na gestão das categorias;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Será realizado rodízio entre os compradores a cada 3 meses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771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7554-1548-DCAB-D976-28E8AE6D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>
            <a:extLst>
              <a:ext uri="{FF2B5EF4-FFF2-40B4-BE49-F238E27FC236}">
                <a16:creationId xmlns:a16="http://schemas.microsoft.com/office/drawing/2014/main" id="{CA4927CC-C002-D04D-E43E-B07B50E53A09}"/>
              </a:ext>
            </a:extLst>
          </p:cNvPr>
          <p:cNvSpPr txBox="1">
            <a:spLocks/>
          </p:cNvSpPr>
          <p:nvPr/>
        </p:nvSpPr>
        <p:spPr>
          <a:xfrm>
            <a:off x="159178" y="206830"/>
            <a:ext cx="11945735" cy="64878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b="1" dirty="0"/>
              <a:t>1. Fluxo do Processo de Compras</a:t>
            </a:r>
          </a:p>
          <a:p>
            <a:pPr algn="l"/>
            <a:r>
              <a:rPr lang="pt-BR" sz="1600" b="1" dirty="0"/>
              <a:t>Etapa 1 – Requisição</a:t>
            </a:r>
          </a:p>
          <a:p>
            <a:pPr algn="l"/>
            <a:r>
              <a:rPr lang="pt-BR" sz="1600" dirty="0"/>
              <a:t>Solicitante realiza a requisição de compras.</a:t>
            </a:r>
          </a:p>
          <a:p>
            <a:pPr algn="l"/>
            <a:r>
              <a:rPr lang="pt-BR" sz="1600" b="1" dirty="0"/>
              <a:t>Etapa 2 – Validação de Cadastro</a:t>
            </a:r>
          </a:p>
          <a:p>
            <a:pPr algn="l"/>
            <a:r>
              <a:rPr lang="pt-BR" sz="1600" dirty="0"/>
              <a:t>O Agente </a:t>
            </a:r>
            <a:r>
              <a:rPr lang="pt-BR" sz="1600" dirty="0" err="1"/>
              <a:t>Cadastrista</a:t>
            </a:r>
            <a:r>
              <a:rPr lang="pt-BR" sz="1600" dirty="0"/>
              <a:t> consulta a base cadastral.</a:t>
            </a:r>
          </a:p>
          <a:p>
            <a:pPr algn="l"/>
            <a:r>
              <a:rPr lang="pt-BR" sz="1600" dirty="0"/>
              <a:t>Caso o item já esteja cadastrado, a requisição segue para o processo de compra.</a:t>
            </a:r>
          </a:p>
          <a:p>
            <a:pPr algn="l"/>
            <a:r>
              <a:rPr lang="pt-BR" sz="1600" dirty="0"/>
              <a:t>Caso o item não esteja cadastrado, é realizado o cadastramento padronizado conforme as diretrizes do EMS.</a:t>
            </a:r>
          </a:p>
          <a:p>
            <a:pPr algn="l"/>
            <a:r>
              <a:rPr lang="pt-BR" sz="1600" b="1" dirty="0"/>
              <a:t>Etapa 3 – Cadastro de Fornecedores</a:t>
            </a:r>
          </a:p>
          <a:p>
            <a:pPr algn="l"/>
            <a:r>
              <a:rPr lang="pt-BR" sz="1600" dirty="0"/>
              <a:t>O Agente </a:t>
            </a:r>
            <a:r>
              <a:rPr lang="pt-BR" sz="1600" dirty="0" err="1"/>
              <a:t>Cadastrista</a:t>
            </a:r>
            <a:r>
              <a:rPr lang="pt-BR" sz="1600" dirty="0"/>
              <a:t> realiza a prospecção, validação e cadastramento de fornecedores ou prestadores de serviços aptos ao atendimento da demanda.</a:t>
            </a:r>
          </a:p>
          <a:p>
            <a:pPr algn="l"/>
            <a:r>
              <a:rPr lang="pt-BR" sz="1600" b="1" dirty="0"/>
              <a:t>Etapa 4 – Fila de Compras</a:t>
            </a:r>
          </a:p>
          <a:p>
            <a:pPr algn="l"/>
            <a:r>
              <a:rPr lang="pt-BR" sz="1600" dirty="0"/>
              <a:t>Após a validação dos cadastros, a solicitação é direcionada para a fila de compras.</a:t>
            </a:r>
          </a:p>
          <a:p>
            <a:pPr algn="l"/>
            <a:r>
              <a:rPr lang="pt-BR" sz="1600" dirty="0"/>
              <a:t>O comprador responsável assume a demanda.</a:t>
            </a:r>
          </a:p>
          <a:p>
            <a:pPr algn="l"/>
            <a:r>
              <a:rPr lang="pt-BR" sz="1600" b="1" dirty="0"/>
              <a:t>Etapa 5 – Cotação</a:t>
            </a:r>
          </a:p>
          <a:p>
            <a:pPr algn="l"/>
            <a:r>
              <a:rPr lang="pt-BR" sz="1600" dirty="0"/>
              <a:t>O comprador realiza o processo de cotação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É elaborado um mapa comparativo contendo preços, condições comerciais, prazos de entrega e demais critérios relevantes.</a:t>
            </a:r>
          </a:p>
          <a:p>
            <a:pPr algn="l"/>
            <a:r>
              <a:rPr lang="pt-BR" sz="1600" b="1" dirty="0"/>
              <a:t>Etapa 6 – Aprovação</a:t>
            </a:r>
          </a:p>
          <a:p>
            <a:pPr algn="l"/>
            <a:r>
              <a:rPr lang="pt-BR" sz="1600" dirty="0"/>
              <a:t>O mapa comparativo é submetido à aprovação do gestor responsável pela área demandante.</a:t>
            </a:r>
          </a:p>
          <a:p>
            <a:pPr algn="l"/>
            <a:r>
              <a:rPr lang="pt-BR" sz="1600" b="1" dirty="0"/>
              <a:t>Etapa 7 – Pedido de Compra</a:t>
            </a:r>
          </a:p>
          <a:p>
            <a:pPr algn="l"/>
            <a:r>
              <a:rPr lang="pt-BR" sz="1600" dirty="0"/>
              <a:t>Após aprovação, é emitido o Pedido de Compra (PC).</a:t>
            </a:r>
          </a:p>
          <a:p>
            <a:pPr algn="l"/>
            <a:r>
              <a:rPr lang="pt-BR" sz="1600" b="1" dirty="0"/>
              <a:t>Etapa 8 – Execução da Compra</a:t>
            </a:r>
          </a:p>
          <a:p>
            <a:pPr algn="l"/>
            <a:r>
              <a:rPr lang="pt-BR" sz="1600" dirty="0"/>
              <a:t>O comprador formaliza a aquisição junto ao fornecedor.</a:t>
            </a:r>
            <a:endParaRPr lang="pt-BR" sz="500" dirty="0"/>
          </a:p>
        </p:txBody>
      </p:sp>
    </p:spTree>
    <p:extLst>
      <p:ext uri="{BB962C8B-B14F-4D97-AF65-F5344CB8AC3E}">
        <p14:creationId xmlns:p14="http://schemas.microsoft.com/office/powerpoint/2010/main" val="24385005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10555</TotalTime>
  <Words>905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CPD Cobeb</dc:creator>
  <cp:lastModifiedBy>Sergio Augusto Soares Luz</cp:lastModifiedBy>
  <cp:revision>41</cp:revision>
  <dcterms:created xsi:type="dcterms:W3CDTF">2026-01-07T14:56:34Z</dcterms:created>
  <dcterms:modified xsi:type="dcterms:W3CDTF">2026-06-24T19:40:51Z</dcterms:modified>
</cp:coreProperties>
</file>